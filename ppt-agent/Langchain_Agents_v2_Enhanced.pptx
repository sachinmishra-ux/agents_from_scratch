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en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51560" y="1143000"/>
            <a:ext cx="10088575" cy="4526280"/>
          </a:xfrm>
          <a:prstGeom prst="roundRect">
            <a:avLst/>
          </a:prstGeom>
          <a:solidFill>
            <a:srgbClr val="0E1628"/>
          </a:solidFill>
          <a:ln w="2286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0" y="1143000"/>
            <a:ext cx="4144975" cy="7315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69080" y="1572768"/>
            <a:ext cx="4053535" cy="365760"/>
          </a:xfrm>
          <a:prstGeom prst="roundRect">
            <a:avLst/>
          </a:prstGeom>
          <a:solidFill>
            <a:srgbClr val="16244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050" b="1">
                <a:solidFill>
                  <a:srgbClr val="00F2FE"/>
                </a:solidFill>
                <a:latin typeface="Calibri"/>
              </a:defRPr>
            </a:pPr>
            <a:r>
              <a:t>01 //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48840"/>
            <a:ext cx="917417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Calibri"/>
              </a:defRPr>
            </a:pPr>
            <a:r>
              <a:t>Langchain Agents: Transforming the Future of AI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4983480"/>
            <a:ext cx="8442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AUTONOMOUS AI PRESENTATION ARCHITECTURE  •  8 SLIDES  •  GEMINI 2.5 FLASH VISUALS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02 //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The Power of create_agent Functionality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10972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create_agent Architecture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Streamlined creation of intelligent agents using modular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99232"/>
            <a:ext cx="5440680" cy="128016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3090672"/>
            <a:ext cx="64008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31272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072384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Dynamic Tool Selection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Agents autonomously select the best tools for complex tasks.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07408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4498848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535424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480560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Reasoning Loops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Iterative thought processes that improve accuracy and reliability.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Calibri"/>
              </a:defRPr>
            </a:pPr>
            <a:r>
              <a:t>◆  VISUAL ARCHITECTURE // RIGHT PANEL</a:t>
            </a:r>
          </a:p>
        </p:txBody>
      </p:sp>
      <p:pic>
        <p:nvPicPr>
          <p:cNvPr id="22" name="Picture 21" descr="slide_2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20240"/>
            <a:ext cx="4892040" cy="3310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0138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The Power of create_agent Functionality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Langchain's create_agent function provides a robust foundation for building scalable, autonomous AI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A855F7"/>
                </a:solidFill>
                <a:latin typeface="Calibri"/>
              </a:defRPr>
            </a:pPr>
            <a:r>
              <a:t>03 // EXECUTION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Langchain Agent Execution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Calibri"/>
              </a:defRPr>
            </a:pPr>
            <a:r>
              <a:t>◆  VISUAL ARCHITECTURE // LEFT PANEL</a:t>
            </a:r>
          </a:p>
        </p:txBody>
      </p:sp>
      <p:pic>
        <p:nvPicPr>
          <p:cNvPr id="10" name="Picture 9" descr="slide_3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20240"/>
            <a:ext cx="4892040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Langchain Agent Execution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591056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1682496"/>
            <a:ext cx="64008" cy="10972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1664208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Sequential Execution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Structured flow of thought, action, and observation cycles.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999232"/>
            <a:ext cx="5440680" cy="128016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3090672"/>
            <a:ext cx="64008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1272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3072384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Error Handling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Built-in mechanisms to recover from tool execution failures.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4407408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4498848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4535424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4480560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Context-Awareness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Maintaining state across multiple turns for coherent interactions.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The agent execution flow ensures reliable, repeatable, and context-aware AI 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10B981"/>
                </a:solidFill>
                <a:latin typeface="Calibri"/>
              </a:defRPr>
            </a:pPr>
            <a:r>
              <a:t>04 //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Langchain vs. Langgraph: Strategic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281928" cy="4096512"/>
          </a:xfrm>
          <a:prstGeom prst="roundRect">
            <a:avLst/>
          </a:prstGeom>
          <a:solidFill>
            <a:srgbClr val="0E1626"/>
          </a:solidFill>
          <a:ln w="1778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0664" y="1645920"/>
          <a:ext cx="6172200" cy="3986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996696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00F2FE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Langchain Agents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Langgraph</a:t>
                      </a:r>
                    </a:p>
                  </a:txBody>
                  <a:tcPr anchor="ctr">
                    <a:solidFill>
                      <a:srgbClr val="1A315E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State Management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Basic/Stateless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Complex/Stateful Graphs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Complexity Handling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Low to Medium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High/Cyclic Graphs</a:t>
                      </a:r>
                    </a:p>
                  </a:txBody>
                  <a:tcPr anchor="ctr">
                    <a:solidFill>
                      <a:srgbClr val="192642"/>
                    </a:solidFill>
                  </a:tcPr>
                </a:tc>
              </a:tr>
              <a:tr h="996696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Flexibility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High (Modular)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0">
                          <a:solidFill>
                            <a:srgbClr val="D6E0EE"/>
                          </a:solidFill>
                          <a:latin typeface="Calibri"/>
                        </a:defRPr>
                      </a:pPr>
                      <a:r>
                        <a:t>Maximum (Customizable)</a:t>
                      </a:r>
                    </a:p>
                  </a:txBody>
                  <a:tcPr anchor="ctr">
                    <a:solidFill>
                      <a:srgbClr val="121C3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32320" y="1591056"/>
            <a:ext cx="437083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78624" y="1645920"/>
            <a:ext cx="407822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alibri"/>
              </a:defRPr>
            </a:pPr>
            <a:r>
              <a:t>◆  COMPARISON INFOGRAPHIC</a:t>
            </a:r>
          </a:p>
        </p:txBody>
      </p:sp>
      <p:pic>
        <p:nvPicPr>
          <p:cNvPr id="12" name="Picture 11" descr="slide_4_table_inf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1920240"/>
            <a:ext cx="4114800" cy="3310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78624" y="5266944"/>
            <a:ext cx="407822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Visual Comparison Matrix generated via Gemini 2.5 Flash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Choosing between Langchain and Langgraph depends on the complexity and state requirements of your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A855F7"/>
                </a:solidFill>
                <a:latin typeface="Calibri"/>
              </a:defRPr>
            </a:pPr>
            <a:r>
              <a:t>05 // MIDDLEWARE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Langchain Middleware Concept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A855F7"/>
                </a:solidFill>
                <a:latin typeface="Calibri"/>
              </a:defRPr>
            </a:pPr>
            <a:r>
              <a:t>◆  VISUAL ARCHITECTURE // LEFT PANEL</a:t>
            </a:r>
          </a:p>
        </p:txBody>
      </p:sp>
      <p:pic>
        <p:nvPicPr>
          <p:cNvPr id="10" name="Picture 9" descr="slide_5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920240"/>
            <a:ext cx="4892040" cy="3310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210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Langchain Middleware Concept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591056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1682496"/>
            <a:ext cx="64008" cy="10972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1664208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Middleware Architecture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Intercepting and transforming data streams within the agent pipeline.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62472" y="2999232"/>
            <a:ext cx="5440680" cy="128016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3090672"/>
            <a:ext cx="64008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1272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3072384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Data Transformation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Standardizing inputs and outputs for consistent agent performance.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4407408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17336" y="4498848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4535424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4480560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Enterprise Security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Implementing custom middleware for compliance and data protection.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Langchain middleware provides a powerful mechanism for customizing and securing agent data 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06 // ROUTING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Langchain Router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10972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Router Pattern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Dynamically directing requests to the most suitable model or tool.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99232"/>
            <a:ext cx="5440680" cy="1280160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3090672"/>
            <a:ext cx="64008" cy="10972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3127248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072384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Task Optimization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Improving efficiency by matching tasks to specialized resources.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07408"/>
            <a:ext cx="5440680" cy="1280160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4498848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535424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480560"/>
            <a:ext cx="4617720" cy="1133856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Scalability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Enabling complex agent systems to handle diverse workloads effectively.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591056"/>
            <a:ext cx="5148072" cy="4096512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1645920"/>
            <a:ext cx="4855464" cy="256032"/>
          </a:xfrm>
          <a:prstGeom prst="rect">
            <a:avLst/>
          </a:prstGeom>
          <a:noFill/>
        </p:spPr>
        <p:txBody>
          <a:bodyPr wrap="none" lIns="0" tIns="18288">
            <a:spAutoFit/>
          </a:bodyPr>
          <a:lstStyle/>
          <a:p>
            <a:pPr>
              <a:defRPr sz="950" b="1">
                <a:solidFill>
                  <a:srgbClr val="00F2FE"/>
                </a:solidFill>
                <a:latin typeface="Calibri"/>
              </a:defRPr>
            </a:pPr>
            <a:r>
              <a:t>◆  VISUAL ARCHITECTURE // RIGHT PANEL</a:t>
            </a:r>
          </a:p>
        </p:txBody>
      </p:sp>
      <p:pic>
        <p:nvPicPr>
          <p:cNvPr id="22" name="Picture 21" descr="slide_6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920240"/>
            <a:ext cx="4892040" cy="33101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01384" y="5266944"/>
            <a:ext cx="4855464" cy="365760"/>
          </a:xfrm>
          <a:prstGeom prst="rect">
            <a:avLst/>
          </a:prstGeom>
          <a:noFill/>
        </p:spPr>
        <p:txBody>
          <a:bodyPr wrap="square" lIns="0" tIns="18288">
            <a:spAutoFit/>
          </a:bodyPr>
          <a:lstStyle/>
          <a:p>
            <a:pPr>
              <a:defRPr sz="1000">
                <a:solidFill>
                  <a:srgbClr val="A5C3E1"/>
                </a:solidFill>
                <a:latin typeface="Calibri"/>
              </a:defRPr>
            </a:pPr>
            <a:r>
              <a:t>Langchain Router Pattern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870448"/>
            <a:ext cx="10817352" cy="621792"/>
          </a:xfrm>
          <a:prstGeom prst="roundRect">
            <a:avLst/>
          </a:prstGeom>
          <a:solidFill>
            <a:srgbClr val="0F182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" y="5989320"/>
            <a:ext cx="1508760" cy="384048"/>
          </a:xfrm>
          <a:prstGeom prst="round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90D18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925312"/>
            <a:ext cx="8869680" cy="512064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Calibri"/>
              </a:defRPr>
            </a:pPr>
            <a:r>
              <a:t>The router pattern is critical for building scalable and efficient multi-agent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ntent_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07 //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Advanced HITL Capabilities in Langchain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91056"/>
            <a:ext cx="653796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" y="1682496"/>
            <a:ext cx="64008" cy="131673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1664208"/>
            <a:ext cx="5715000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Human-in-the-loop (HITL)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Enabling human oversight for critical agent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18687"/>
            <a:ext cx="6537960" cy="1499616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" y="3310127"/>
            <a:ext cx="64008" cy="13167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" y="3346703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291839"/>
            <a:ext cx="5715000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Approval Workflows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Implementing checkpoints for manual verification of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846320"/>
            <a:ext cx="653796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" y="4937759"/>
            <a:ext cx="64008" cy="13167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49743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4919472"/>
            <a:ext cx="5715000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Real-time Intervention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Allowing users to steer agent behavior during execution.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91056"/>
            <a:ext cx="4050791" cy="4754880"/>
          </a:xfrm>
          <a:prstGeom prst="roundRect">
            <a:avLst/>
          </a:prstGeom>
          <a:solidFill>
            <a:srgbClr val="161C36"/>
          </a:solidFill>
          <a:ln w="228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1591056"/>
            <a:ext cx="4050791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1874519"/>
            <a:ext cx="2377440" cy="347472"/>
          </a:xfrm>
          <a:prstGeom prst="roundRect">
            <a:avLst/>
          </a:prstGeom>
          <a:solidFill>
            <a:srgbClr val="0E1426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950" b="1">
                <a:solidFill>
                  <a:srgbClr val="00F2FE"/>
                </a:solidFill>
                <a:latin typeface="Calibri"/>
              </a:defRPr>
            </a:pPr>
            <a:r>
              <a:t>STRATEGIC SYNTHESIS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395728"/>
            <a:ext cx="35204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HITL capabilities are essential for deploying agents in high-stakes enterprise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losing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92608"/>
            <a:ext cx="3154680" cy="274320"/>
          </a:xfrm>
          <a:prstGeom prst="roundRect">
            <a:avLst/>
          </a:prstGeom>
          <a:solidFill>
            <a:srgbClr val="101C3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27432"/>
          <a:lstStyle/>
          <a:p>
            <a:pPr algn="ctr">
              <a:defRPr sz="950" b="1">
                <a:solidFill>
                  <a:srgbClr val="F59E0B"/>
                </a:solidFill>
                <a:latin typeface="Calibri"/>
              </a:defRPr>
            </a:pPr>
            <a:r>
              <a:t>08 //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51592" y="292608"/>
            <a:ext cx="1051560" cy="274320"/>
          </a:xfrm>
          <a:prstGeom prst="roundRect">
            <a:avLst/>
          </a:prstGeom>
          <a:solidFill>
            <a:srgbClr val="101C34"/>
          </a:solidFill>
          <a:ln w="1270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/>
          <a:lstStyle/>
          <a:p>
            <a:pPr algn="ctr">
              <a:defRPr sz="900" b="1">
                <a:solidFill>
                  <a:srgbClr val="A5C3E1"/>
                </a:solidFill>
                <a:latin typeface="Calibri"/>
              </a:defRPr>
            </a:pPr>
            <a:r>
              <a:t>SLIDE 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03504"/>
            <a:ext cx="10817352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500" b="1">
                <a:solidFill>
                  <a:srgbClr val="F8FAFC"/>
                </a:solidFill>
                <a:latin typeface="Calibri"/>
              </a:defRPr>
            </a:pPr>
            <a:r>
              <a:t>Executive Summary &amp; 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69848"/>
            <a:ext cx="10817352" cy="31089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>
                <a:solidFill>
                  <a:srgbClr val="A5C3E1"/>
                </a:solidFill>
                <a:latin typeface="Calibri"/>
              </a:defRPr>
            </a:pPr>
            <a:r>
              <a:t>Executive Takeaways &amp; Strategic Outlook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26464"/>
            <a:ext cx="3108960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60" y="1435608"/>
            <a:ext cx="7708392" cy="13716"/>
          </a:xfrm>
          <a:prstGeom prst="rect">
            <a:avLst/>
          </a:prstGeom>
          <a:solidFill>
            <a:srgbClr val="304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91056"/>
            <a:ext cx="644652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682496"/>
            <a:ext cx="64008" cy="131673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" y="1719072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00F2FE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1664208"/>
            <a:ext cx="5623559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01. Summary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Langchain agents represent a paradigm shift in AI interaction.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18687"/>
            <a:ext cx="6446520" cy="1499616"/>
          </a:xfrm>
          <a:prstGeom prst="roundRect">
            <a:avLst/>
          </a:prstGeom>
          <a:solidFill>
            <a:srgbClr val="1A2742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" y="3310127"/>
            <a:ext cx="64008" cy="131673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" y="3346703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A855F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3291839"/>
            <a:ext cx="5623559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02. Future Directions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Moving towards multi-agent systems and autonomous orchestration.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46320"/>
            <a:ext cx="6446520" cy="1499616"/>
          </a:xfrm>
          <a:prstGeom prst="roundRect">
            <a:avLst/>
          </a:prstGeom>
          <a:solidFill>
            <a:srgbClr val="141E34"/>
          </a:solidFill>
          <a:ln w="15240">
            <a:solidFill>
              <a:srgbClr val="304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" y="4937759"/>
            <a:ext cx="64008" cy="13167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" y="4974336"/>
            <a:ext cx="420624" cy="384048"/>
          </a:xfrm>
          <a:prstGeom prst="roundRect">
            <a:avLst/>
          </a:prstGeom>
          <a:solidFill>
            <a:srgbClr val="0B122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/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9032" y="4919472"/>
            <a:ext cx="5623559" cy="1353312"/>
          </a:xfrm>
          <a:prstGeom prst="rect">
            <a:avLst/>
          </a:prstGeom>
          <a:noFill/>
        </p:spPr>
        <p:txBody>
          <a:bodyPr wrap="square" lIns="36576" rIns="54864" tIns="27432" bIns="27432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Calibri"/>
              </a:defRPr>
            </a:pPr>
            <a:r>
              <a:t>03. Strategic Roadmap</a:t>
            </a:r>
          </a:p>
          <a:p>
            <a:pPr>
              <a:defRPr sz="1150">
                <a:solidFill>
                  <a:srgbClr val="D6E0EE"/>
                </a:solidFill>
                <a:latin typeface="Calibri"/>
              </a:defRPr>
            </a:pPr>
            <a:r>
              <a:t>Prioritize modular development and robust HITL integration.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591056"/>
            <a:ext cx="4142232" cy="4754880"/>
          </a:xfrm>
          <a:prstGeom prst="roundRect">
            <a:avLst/>
          </a:prstGeom>
          <a:solidFill>
            <a:srgbClr val="121C34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20" y="1591056"/>
            <a:ext cx="4142232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1874519"/>
            <a:ext cx="3611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EXECUTIVE SUMMARY &amp; NEXT STEPS</a:t>
            </a:r>
          </a:p>
          <a:p>
            <a:pPr>
              <a:defRPr sz="1400" b="1">
                <a:solidFill>
                  <a:srgbClr val="F8FAFC"/>
                </a:solidFill>
                <a:latin typeface="Calibri"/>
              </a:defRPr>
            </a:pPr>
            <a:r>
              <a:t>Investing in Langchain agents today positions your organization at the forefront of AI-driven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