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ening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51560" y="1143000"/>
            <a:ext cx="10088575" cy="4526280"/>
          </a:xfrm>
          <a:prstGeom prst="roundRect">
            <a:avLst/>
          </a:prstGeom>
          <a:solidFill>
            <a:srgbClr val="0E1628"/>
          </a:solidFill>
          <a:ln w="2286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23360" y="1143000"/>
            <a:ext cx="4144975" cy="7315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069080" y="1572768"/>
            <a:ext cx="4053535" cy="365760"/>
          </a:xfrm>
          <a:prstGeom prst="roundRect">
            <a:avLst/>
          </a:prstGeom>
          <a:solidFill>
            <a:srgbClr val="16244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050" b="1">
                <a:solidFill>
                  <a:srgbClr val="00F2FE"/>
                </a:solidFill>
                <a:latin typeface="Calibri"/>
              </a:defRPr>
            </a:pPr>
            <a:r>
              <a:t>01 //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148840"/>
            <a:ext cx="9174175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8FAFC"/>
                </a:solidFill>
                <a:latin typeface="Calibri"/>
              </a:defRPr>
            </a:pPr>
            <a:r>
              <a:t>Langchain Agents: Transforming the Future of AI Interaction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4983480"/>
            <a:ext cx="8442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AUTONOMOUS AI PRESENTATION ARCHITECTURE  •  6 SLIDES  •  GEMINI 2.5 FLASH VISUALS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ontent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292608"/>
            <a:ext cx="3154680" cy="274320"/>
          </a:xfrm>
          <a:prstGeom prst="roundRect">
            <a:avLst/>
          </a:prstGeom>
          <a:solidFill>
            <a:srgbClr val="101C34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27432"/>
          <a:lstStyle/>
          <a:p>
            <a:pPr algn="ctr">
              <a:defRPr sz="950" b="1">
                <a:solidFill>
                  <a:srgbClr val="00F2FE"/>
                </a:solidFill>
                <a:latin typeface="Calibri"/>
              </a:defRPr>
            </a:pPr>
            <a:r>
              <a:t>02 //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1592" y="292608"/>
            <a:ext cx="1051560" cy="274320"/>
          </a:xfrm>
          <a:prstGeom prst="roundRect">
            <a:avLst/>
          </a:prstGeom>
          <a:solidFill>
            <a:srgbClr val="101C34"/>
          </a:solidFill>
          <a:ln w="1270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900" b="1">
                <a:solidFill>
                  <a:srgbClr val="A5C3E1"/>
                </a:solidFill>
                <a:latin typeface="Calibri"/>
              </a:defRPr>
            </a:pPr>
            <a:r>
              <a:t>SLIDE 02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3504"/>
            <a:ext cx="1081735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Calibri"/>
              </a:defRPr>
            </a:pPr>
            <a:r>
              <a:t>The Power of create_agent Functionality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26464"/>
            <a:ext cx="3108960" cy="3200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94760" y="1435608"/>
            <a:ext cx="7708392" cy="13716"/>
          </a:xfrm>
          <a:prstGeom prst="rect">
            <a:avLst/>
          </a:prstGeom>
          <a:solidFill>
            <a:srgbClr val="30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591056"/>
            <a:ext cx="5440680" cy="1280160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" y="1682496"/>
            <a:ext cx="64008" cy="109728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1719072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00F2FE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664208"/>
            <a:ext cx="4617720" cy="1133856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8FAFC"/>
                </a:solidFill>
                <a:latin typeface="Calibri"/>
              </a:defRPr>
            </a:pPr>
            <a:r>
              <a:t>01. create_agent Architecture</a:t>
            </a:r>
          </a:p>
          <a:p>
            <a:pPr>
              <a:defRPr sz="1150">
                <a:solidFill>
                  <a:srgbClr val="D6E0EE"/>
                </a:solidFill>
                <a:latin typeface="Calibri"/>
              </a:defRPr>
            </a:pPr>
            <a:r>
              <a:t>Streamlined creation of intelligent agents using modular components.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99232"/>
            <a:ext cx="5440680" cy="1280160"/>
          </a:xfrm>
          <a:prstGeom prst="roundRect">
            <a:avLst/>
          </a:prstGeom>
          <a:solidFill>
            <a:srgbClr val="1A2742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" y="3090672"/>
            <a:ext cx="64008" cy="10972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6968" y="3127248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A855F7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3072384"/>
            <a:ext cx="4617720" cy="1133856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8FAFC"/>
                </a:solidFill>
                <a:latin typeface="Calibri"/>
              </a:defRPr>
            </a:pPr>
            <a:r>
              <a:t>02. Dynamic Tool Selection</a:t>
            </a:r>
          </a:p>
          <a:p>
            <a:pPr>
              <a:defRPr sz="1150">
                <a:solidFill>
                  <a:srgbClr val="D6E0EE"/>
                </a:solidFill>
                <a:latin typeface="Calibri"/>
              </a:defRPr>
            </a:pPr>
            <a:r>
              <a:t>Agents autonomously select the best tools for complex tasks.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407408"/>
            <a:ext cx="5440680" cy="1280160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" y="4498848"/>
            <a:ext cx="64008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6968" y="4535424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4480560"/>
            <a:ext cx="4617720" cy="1133856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8FAFC"/>
                </a:solidFill>
                <a:latin typeface="Calibri"/>
              </a:defRPr>
            </a:pPr>
            <a:r>
              <a:t>03. Reasoning Loops</a:t>
            </a:r>
          </a:p>
          <a:p>
            <a:pPr>
              <a:defRPr sz="1150">
                <a:solidFill>
                  <a:srgbClr val="D6E0EE"/>
                </a:solidFill>
                <a:latin typeface="Calibri"/>
              </a:defRPr>
            </a:pPr>
            <a:r>
              <a:t>Iterative thought processes that improve accuracy and reliability.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591056"/>
            <a:ext cx="5148072" cy="4096512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1384" y="1645920"/>
            <a:ext cx="4855464" cy="256032"/>
          </a:xfrm>
          <a:prstGeom prst="rect">
            <a:avLst/>
          </a:prstGeom>
          <a:noFill/>
        </p:spPr>
        <p:txBody>
          <a:bodyPr wrap="none" lIns="0" tIns="18288">
            <a:spAutoFit/>
          </a:bodyPr>
          <a:lstStyle/>
          <a:p>
            <a:pPr>
              <a:defRPr sz="950" b="1">
                <a:solidFill>
                  <a:srgbClr val="00F2FE"/>
                </a:solidFill>
                <a:latin typeface="Calibri"/>
              </a:defRPr>
            </a:pPr>
            <a:r>
              <a:t>◆  VISUAL ARCHITECTURE // RIGHT PANEL</a:t>
            </a:r>
          </a:p>
        </p:txBody>
      </p:sp>
      <p:pic>
        <p:nvPicPr>
          <p:cNvPr id="22" name="Picture 21" descr="slide_2_illu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920240"/>
            <a:ext cx="4892040" cy="33101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01384" y="5266944"/>
            <a:ext cx="4855464" cy="365760"/>
          </a:xfrm>
          <a:prstGeom prst="rect">
            <a:avLst/>
          </a:prstGeom>
          <a:noFill/>
        </p:spPr>
        <p:txBody>
          <a:bodyPr wrap="square" lIns="0" tIns="18288">
            <a:spAutoFit/>
          </a:bodyPr>
          <a:lstStyle/>
          <a:p>
            <a:pPr>
              <a:defRPr sz="1000">
                <a:solidFill>
                  <a:srgbClr val="A5C3E1"/>
                </a:solidFill>
                <a:latin typeface="Calibri"/>
              </a:defRPr>
            </a:pPr>
            <a:r>
              <a:t>The Power of create_agent Functionality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870448"/>
            <a:ext cx="10817352" cy="621792"/>
          </a:xfrm>
          <a:prstGeom prst="roundRect">
            <a:avLst/>
          </a:prstGeom>
          <a:solidFill>
            <a:srgbClr val="0F182C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5989320"/>
            <a:ext cx="1508760" cy="384048"/>
          </a:xfrm>
          <a:prstGeom prst="round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950" b="1">
                <a:solidFill>
                  <a:srgbClr val="090D18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5925312"/>
            <a:ext cx="8869680" cy="512064"/>
          </a:xfrm>
          <a:prstGeom prst="rect">
            <a:avLst/>
          </a:prstGeom>
          <a:noFill/>
        </p:spPr>
        <p:txBody>
          <a:bodyPr wrap="square" lIns="0" tIns="36576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Calibri"/>
              </a:defRPr>
            </a:pPr>
            <a:r>
              <a:t>Langchain's create_agent function provides a robust foundation for building scalable, autonomous AI agents.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ontent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292608"/>
            <a:ext cx="3154680" cy="274320"/>
          </a:xfrm>
          <a:prstGeom prst="roundRect">
            <a:avLst/>
          </a:prstGeom>
          <a:solidFill>
            <a:srgbClr val="101C34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27432"/>
          <a:lstStyle/>
          <a:p>
            <a:pPr algn="ctr">
              <a:defRPr sz="950" b="1">
                <a:solidFill>
                  <a:srgbClr val="A855F7"/>
                </a:solidFill>
                <a:latin typeface="Calibri"/>
              </a:defRPr>
            </a:pPr>
            <a:r>
              <a:t>03 // EXECUTION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1592" y="292608"/>
            <a:ext cx="1051560" cy="274320"/>
          </a:xfrm>
          <a:prstGeom prst="roundRect">
            <a:avLst/>
          </a:prstGeom>
          <a:solidFill>
            <a:srgbClr val="101C34"/>
          </a:solidFill>
          <a:ln w="1270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900" b="1">
                <a:solidFill>
                  <a:srgbClr val="A5C3E1"/>
                </a:solidFill>
                <a:latin typeface="Calibri"/>
              </a:defRPr>
            </a:pPr>
            <a:r>
              <a:t>SLIDE 03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3504"/>
            <a:ext cx="1081735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Calibri"/>
              </a:defRPr>
            </a:pPr>
            <a:r>
              <a:t>Langchain Agent Execution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26464"/>
            <a:ext cx="3108960" cy="320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94760" y="1435608"/>
            <a:ext cx="7708392" cy="13716"/>
          </a:xfrm>
          <a:prstGeom prst="rect">
            <a:avLst/>
          </a:prstGeom>
          <a:solidFill>
            <a:srgbClr val="30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591056"/>
            <a:ext cx="5148072" cy="4096512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1645920"/>
            <a:ext cx="4855464" cy="256032"/>
          </a:xfrm>
          <a:prstGeom prst="rect">
            <a:avLst/>
          </a:prstGeom>
          <a:noFill/>
        </p:spPr>
        <p:txBody>
          <a:bodyPr wrap="none" lIns="0" tIns="18288">
            <a:spAutoFit/>
          </a:bodyPr>
          <a:lstStyle/>
          <a:p>
            <a:pPr>
              <a:defRPr sz="950" b="1">
                <a:solidFill>
                  <a:srgbClr val="A855F7"/>
                </a:solidFill>
                <a:latin typeface="Calibri"/>
              </a:defRPr>
            </a:pPr>
            <a:r>
              <a:t>◆  VISUAL ARCHITECTURE // LEFT PANEL</a:t>
            </a:r>
          </a:p>
        </p:txBody>
      </p:sp>
      <p:pic>
        <p:nvPicPr>
          <p:cNvPr id="10" name="Picture 9" descr="slide_3_illu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920240"/>
            <a:ext cx="4892040" cy="33101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2104" y="5266944"/>
            <a:ext cx="4855464" cy="365760"/>
          </a:xfrm>
          <a:prstGeom prst="rect">
            <a:avLst/>
          </a:prstGeom>
          <a:noFill/>
        </p:spPr>
        <p:txBody>
          <a:bodyPr wrap="square" lIns="0" tIns="18288">
            <a:spAutoFit/>
          </a:bodyPr>
          <a:lstStyle/>
          <a:p>
            <a:pPr>
              <a:defRPr sz="1000">
                <a:solidFill>
                  <a:srgbClr val="A5C3E1"/>
                </a:solidFill>
                <a:latin typeface="Calibri"/>
              </a:defRPr>
            </a:pPr>
            <a:r>
              <a:t>Langchain Agent Execution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62472" y="1591056"/>
            <a:ext cx="5440680" cy="1280160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17336" y="1682496"/>
            <a:ext cx="64008" cy="109728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719072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00F2FE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75704" y="1664208"/>
            <a:ext cx="4617720" cy="1133856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8FAFC"/>
                </a:solidFill>
                <a:latin typeface="Calibri"/>
              </a:defRPr>
            </a:pPr>
            <a:r>
              <a:t>01. Sequential Execution</a:t>
            </a:r>
          </a:p>
          <a:p>
            <a:pPr>
              <a:defRPr sz="1150">
                <a:solidFill>
                  <a:srgbClr val="D6E0EE"/>
                </a:solidFill>
                <a:latin typeface="Calibri"/>
              </a:defRPr>
            </a:pPr>
            <a:r>
              <a:t>Structured flow of thought, action, and observation cycles.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62472" y="2999232"/>
            <a:ext cx="5440680" cy="1280160"/>
          </a:xfrm>
          <a:prstGeom prst="roundRect">
            <a:avLst/>
          </a:prstGeom>
          <a:solidFill>
            <a:srgbClr val="1A2742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17336" y="3090672"/>
            <a:ext cx="64008" cy="10972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3640" y="3127248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A855F7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5704" y="3072384"/>
            <a:ext cx="4617720" cy="1133856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8FAFC"/>
                </a:solidFill>
                <a:latin typeface="Calibri"/>
              </a:defRPr>
            </a:pPr>
            <a:r>
              <a:t>02. Error Handling</a:t>
            </a:r>
          </a:p>
          <a:p>
            <a:pPr>
              <a:defRPr sz="1150">
                <a:solidFill>
                  <a:srgbClr val="D6E0EE"/>
                </a:solidFill>
                <a:latin typeface="Calibri"/>
              </a:defRPr>
            </a:pPr>
            <a:r>
              <a:t>Built-in mechanisms to recover from tool execution failures.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62472" y="4407408"/>
            <a:ext cx="5440680" cy="1280160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7336" y="4498848"/>
            <a:ext cx="64008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63640" y="4535424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75704" y="4480560"/>
            <a:ext cx="4617720" cy="1133856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8FAFC"/>
                </a:solidFill>
                <a:latin typeface="Calibri"/>
              </a:defRPr>
            </a:pPr>
            <a:r>
              <a:t>03. Context-Awareness</a:t>
            </a:r>
          </a:p>
          <a:p>
            <a:pPr>
              <a:defRPr sz="1150">
                <a:solidFill>
                  <a:srgbClr val="D6E0EE"/>
                </a:solidFill>
                <a:latin typeface="Calibri"/>
              </a:defRPr>
            </a:pPr>
            <a:r>
              <a:t>Maintaining state across multiple turns for coherent interactions.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870448"/>
            <a:ext cx="10817352" cy="621792"/>
          </a:xfrm>
          <a:prstGeom prst="roundRect">
            <a:avLst/>
          </a:prstGeom>
          <a:solidFill>
            <a:srgbClr val="0F182C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5989320"/>
            <a:ext cx="1508760" cy="384048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950" b="1">
                <a:solidFill>
                  <a:srgbClr val="090D18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5925312"/>
            <a:ext cx="8869680" cy="512064"/>
          </a:xfrm>
          <a:prstGeom prst="rect">
            <a:avLst/>
          </a:prstGeom>
          <a:noFill/>
        </p:spPr>
        <p:txBody>
          <a:bodyPr wrap="square" lIns="0" tIns="36576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Calibri"/>
              </a:defRPr>
            </a:pPr>
            <a:r>
              <a:t>The agent execution flow ensures reliable, repeatable, and context-aware AI behavior.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ontent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292608"/>
            <a:ext cx="3154680" cy="274320"/>
          </a:xfrm>
          <a:prstGeom prst="roundRect">
            <a:avLst/>
          </a:prstGeom>
          <a:solidFill>
            <a:srgbClr val="101C3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27432"/>
          <a:lstStyle/>
          <a:p>
            <a:pPr algn="ctr">
              <a:defRPr sz="950" b="1">
                <a:solidFill>
                  <a:srgbClr val="10B981"/>
                </a:solidFill>
                <a:latin typeface="Calibri"/>
              </a:defRPr>
            </a:pPr>
            <a:r>
              <a:t>04 //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1592" y="292608"/>
            <a:ext cx="1051560" cy="274320"/>
          </a:xfrm>
          <a:prstGeom prst="roundRect">
            <a:avLst/>
          </a:prstGeom>
          <a:solidFill>
            <a:srgbClr val="101C34"/>
          </a:solidFill>
          <a:ln w="1270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900" b="1">
                <a:solidFill>
                  <a:srgbClr val="A5C3E1"/>
                </a:solidFill>
                <a:latin typeface="Calibri"/>
              </a:defRPr>
            </a:pPr>
            <a:r>
              <a:t>SLIDE 04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3504"/>
            <a:ext cx="1081735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Calibri"/>
              </a:defRPr>
            </a:pPr>
            <a:r>
              <a:t>Langchain vs. Langgraph: Strategic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26464"/>
            <a:ext cx="3108960" cy="320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94760" y="1435608"/>
            <a:ext cx="7708392" cy="13716"/>
          </a:xfrm>
          <a:prstGeom prst="rect">
            <a:avLst/>
          </a:prstGeom>
          <a:solidFill>
            <a:srgbClr val="30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591056"/>
            <a:ext cx="6281928" cy="4096512"/>
          </a:xfrm>
          <a:prstGeom prst="roundRect">
            <a:avLst/>
          </a:prstGeom>
          <a:solidFill>
            <a:srgbClr val="0E1626"/>
          </a:solidFill>
          <a:ln w="1778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0664" y="1645920"/>
          <a:ext cx="6172200" cy="3986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</a:tblGrid>
              <a:tr h="996696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00F2FE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1A315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Langchain Agents</a:t>
                      </a:r>
                    </a:p>
                  </a:txBody>
                  <a:tcPr anchor="ctr">
                    <a:solidFill>
                      <a:srgbClr val="1A315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Langgraph</a:t>
                      </a:r>
                    </a:p>
                  </a:txBody>
                  <a:tcPr anchor="ctr">
                    <a:solidFill>
                      <a:srgbClr val="1A315E"/>
                    </a:solidFill>
                  </a:tcPr>
                </a:tc>
              </a:tr>
              <a:tr h="996696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State Management</a:t>
                      </a:r>
                    </a:p>
                  </a:txBody>
                  <a:tcPr anchor="ctr">
                    <a:solidFill>
                      <a:srgbClr val="121C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D6E0EE"/>
                          </a:solidFill>
                          <a:latin typeface="Calibri"/>
                        </a:defRPr>
                      </a:pPr>
                      <a:r>
                        <a:t>Basic/Stateless</a:t>
                      </a:r>
                    </a:p>
                  </a:txBody>
                  <a:tcPr anchor="ctr">
                    <a:solidFill>
                      <a:srgbClr val="121C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D6E0EE"/>
                          </a:solidFill>
                          <a:latin typeface="Calibri"/>
                        </a:defRPr>
                      </a:pPr>
                      <a:r>
                        <a:t>Complex/Stateful Graphs</a:t>
                      </a:r>
                    </a:p>
                  </a:txBody>
                  <a:tcPr anchor="ctr">
                    <a:solidFill>
                      <a:srgbClr val="121C32"/>
                    </a:solidFill>
                  </a:tcPr>
                </a:tc>
              </a:tr>
              <a:tr h="996696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Complexity Handling</a:t>
                      </a:r>
                    </a:p>
                  </a:txBody>
                  <a:tcPr anchor="ctr">
                    <a:solidFill>
                      <a:srgbClr val="19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D6E0EE"/>
                          </a:solidFill>
                          <a:latin typeface="Calibri"/>
                        </a:defRPr>
                      </a:pPr>
                      <a:r>
                        <a:t>Low to Medium</a:t>
                      </a:r>
                    </a:p>
                  </a:txBody>
                  <a:tcPr anchor="ctr">
                    <a:solidFill>
                      <a:srgbClr val="19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D6E0EE"/>
                          </a:solidFill>
                          <a:latin typeface="Calibri"/>
                        </a:defRPr>
                      </a:pPr>
                      <a:r>
                        <a:t>High/Cyclic Graphs</a:t>
                      </a:r>
                    </a:p>
                  </a:txBody>
                  <a:tcPr anchor="ctr">
                    <a:solidFill>
                      <a:srgbClr val="192642"/>
                    </a:solidFill>
                  </a:tcPr>
                </a:tc>
              </a:tr>
              <a:tr h="996696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Flexibility</a:t>
                      </a:r>
                    </a:p>
                  </a:txBody>
                  <a:tcPr anchor="ctr">
                    <a:solidFill>
                      <a:srgbClr val="121C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D6E0EE"/>
                          </a:solidFill>
                          <a:latin typeface="Calibri"/>
                        </a:defRPr>
                      </a:pPr>
                      <a:r>
                        <a:t>High (Modular)</a:t>
                      </a:r>
                    </a:p>
                  </a:txBody>
                  <a:tcPr anchor="ctr">
                    <a:solidFill>
                      <a:srgbClr val="121C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D6E0EE"/>
                          </a:solidFill>
                          <a:latin typeface="Calibri"/>
                        </a:defRPr>
                      </a:pPr>
                      <a:r>
                        <a:t>Maximum (Customizable)</a:t>
                      </a:r>
                    </a:p>
                  </a:txBody>
                  <a:tcPr anchor="ctr">
                    <a:solidFill>
                      <a:srgbClr val="121C32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132320" y="1591056"/>
            <a:ext cx="4370832" cy="4096512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78624" y="1645920"/>
            <a:ext cx="4078224" cy="256032"/>
          </a:xfrm>
          <a:prstGeom prst="rect">
            <a:avLst/>
          </a:prstGeom>
          <a:noFill/>
        </p:spPr>
        <p:txBody>
          <a:bodyPr wrap="none" lIns="0" tIns="18288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alibri"/>
              </a:defRPr>
            </a:pPr>
            <a:r>
              <a:t>◆  COMPARISON INFOGRAPHIC</a:t>
            </a:r>
          </a:p>
        </p:txBody>
      </p:sp>
      <p:pic>
        <p:nvPicPr>
          <p:cNvPr id="12" name="Picture 11" descr="slide_4_table_infograph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36" y="1920240"/>
            <a:ext cx="4114800" cy="33101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78624" y="5266944"/>
            <a:ext cx="4078224" cy="365760"/>
          </a:xfrm>
          <a:prstGeom prst="rect">
            <a:avLst/>
          </a:prstGeom>
          <a:noFill/>
        </p:spPr>
        <p:txBody>
          <a:bodyPr wrap="square" lIns="0" tIns="18288">
            <a:spAutoFit/>
          </a:bodyPr>
          <a:lstStyle/>
          <a:p>
            <a:pPr>
              <a:defRPr sz="1000">
                <a:solidFill>
                  <a:srgbClr val="A5C3E1"/>
                </a:solidFill>
                <a:latin typeface="Calibri"/>
              </a:defRPr>
            </a:pPr>
            <a:r>
              <a:t>Visual Comparison Matrix generated via Gemini 2.5 Flash Image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870448"/>
            <a:ext cx="10817352" cy="621792"/>
          </a:xfrm>
          <a:prstGeom prst="roundRect">
            <a:avLst/>
          </a:prstGeom>
          <a:solidFill>
            <a:srgbClr val="0F182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5989320"/>
            <a:ext cx="1508760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950" b="1">
                <a:solidFill>
                  <a:srgbClr val="090D18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5925312"/>
            <a:ext cx="8869680" cy="512064"/>
          </a:xfrm>
          <a:prstGeom prst="rect">
            <a:avLst/>
          </a:prstGeom>
          <a:noFill/>
        </p:spPr>
        <p:txBody>
          <a:bodyPr wrap="square" lIns="0" tIns="36576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Calibri"/>
              </a:defRPr>
            </a:pPr>
            <a:r>
              <a:t>Choosing between Langchain and Langgraph depends on the complexity and state requirements of your agent.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ontent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292608"/>
            <a:ext cx="3154680" cy="274320"/>
          </a:xfrm>
          <a:prstGeom prst="roundRect">
            <a:avLst/>
          </a:prstGeom>
          <a:solidFill>
            <a:srgbClr val="101C34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27432"/>
          <a:lstStyle/>
          <a:p>
            <a:pPr algn="ctr">
              <a:defRPr sz="950" b="1">
                <a:solidFill>
                  <a:srgbClr val="F59E0B"/>
                </a:solidFill>
                <a:latin typeface="Calibri"/>
              </a:defRPr>
            </a:pPr>
            <a:r>
              <a:t>05 //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1592" y="292608"/>
            <a:ext cx="1051560" cy="274320"/>
          </a:xfrm>
          <a:prstGeom prst="roundRect">
            <a:avLst/>
          </a:prstGeom>
          <a:solidFill>
            <a:srgbClr val="101C34"/>
          </a:solidFill>
          <a:ln w="1270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900" b="1">
                <a:solidFill>
                  <a:srgbClr val="A5C3E1"/>
                </a:solidFill>
                <a:latin typeface="Calibri"/>
              </a:defRPr>
            </a:pPr>
            <a:r>
              <a:t>SLIDE 05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3504"/>
            <a:ext cx="1081735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Calibri"/>
              </a:defRPr>
            </a:pPr>
            <a:r>
              <a:t>Advanced HITL Capabilities in Langchain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26464"/>
            <a:ext cx="3108960" cy="320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94760" y="1435608"/>
            <a:ext cx="7708392" cy="13716"/>
          </a:xfrm>
          <a:prstGeom prst="rect">
            <a:avLst/>
          </a:prstGeom>
          <a:solidFill>
            <a:srgbClr val="30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591056"/>
            <a:ext cx="6537960" cy="1499616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" y="1682496"/>
            <a:ext cx="64008" cy="1316736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1719072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00F2FE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664208"/>
            <a:ext cx="5715000" cy="1353312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8FAFC"/>
                </a:solidFill>
                <a:latin typeface="Calibri"/>
              </a:defRPr>
            </a:pPr>
            <a:r>
              <a:t>01. Human-in-the-loop (HITL)</a:t>
            </a:r>
          </a:p>
          <a:p>
            <a:pPr>
              <a:defRPr sz="1150">
                <a:solidFill>
                  <a:srgbClr val="D6E0EE"/>
                </a:solidFill>
                <a:latin typeface="Calibri"/>
              </a:defRPr>
            </a:pPr>
            <a:r>
              <a:t>Enabling human oversight for critical agent decisions.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218687"/>
            <a:ext cx="6537960" cy="1499616"/>
          </a:xfrm>
          <a:prstGeom prst="roundRect">
            <a:avLst/>
          </a:prstGeom>
          <a:solidFill>
            <a:srgbClr val="1A2742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" y="3310127"/>
            <a:ext cx="64008" cy="131673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6968" y="3346703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A855F7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3291839"/>
            <a:ext cx="5715000" cy="1353312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8FAFC"/>
                </a:solidFill>
                <a:latin typeface="Calibri"/>
              </a:defRPr>
            </a:pPr>
            <a:r>
              <a:t>02. Approval Workflows</a:t>
            </a:r>
          </a:p>
          <a:p>
            <a:pPr>
              <a:defRPr sz="1150">
                <a:solidFill>
                  <a:srgbClr val="D6E0EE"/>
                </a:solidFill>
                <a:latin typeface="Calibri"/>
              </a:defRPr>
            </a:pPr>
            <a:r>
              <a:t>Implementing checkpoints for manual verification of actions.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846320"/>
            <a:ext cx="6537960" cy="1499616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" y="4937759"/>
            <a:ext cx="64008" cy="13167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6968" y="4974336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4919472"/>
            <a:ext cx="5715000" cy="1353312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8FAFC"/>
                </a:solidFill>
                <a:latin typeface="Calibri"/>
              </a:defRPr>
            </a:pPr>
            <a:r>
              <a:t>03. Real-time Intervention</a:t>
            </a:r>
          </a:p>
          <a:p>
            <a:pPr>
              <a:defRPr sz="1150">
                <a:solidFill>
                  <a:srgbClr val="D6E0EE"/>
                </a:solidFill>
                <a:latin typeface="Calibri"/>
              </a:defRPr>
            </a:pPr>
            <a:r>
              <a:t>Allowing users to steer agent behavior during execution.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1591056"/>
            <a:ext cx="4050791" cy="4754880"/>
          </a:xfrm>
          <a:prstGeom prst="roundRect">
            <a:avLst/>
          </a:prstGeom>
          <a:solidFill>
            <a:srgbClr val="161C36"/>
          </a:solidFill>
          <a:ln w="2286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2360" y="1591056"/>
            <a:ext cx="4050791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26679" y="1874519"/>
            <a:ext cx="2377440" cy="347472"/>
          </a:xfrm>
          <a:prstGeom prst="roundRect">
            <a:avLst/>
          </a:prstGeom>
          <a:solidFill>
            <a:srgbClr val="0E1426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950" b="1">
                <a:solidFill>
                  <a:srgbClr val="00F2FE"/>
                </a:solidFill>
                <a:latin typeface="Calibri"/>
              </a:defRPr>
            </a:pPr>
            <a:r>
              <a:t>STRATEGIC SYNTHESIS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2395728"/>
            <a:ext cx="35204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HITL capabilities are essential for deploying agents in high-stakes enterprise environments.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losing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292608"/>
            <a:ext cx="3154680" cy="274320"/>
          </a:xfrm>
          <a:prstGeom prst="roundRect">
            <a:avLst/>
          </a:prstGeom>
          <a:solidFill>
            <a:srgbClr val="101C34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27432"/>
          <a:lstStyle/>
          <a:p>
            <a:pPr algn="ctr">
              <a:defRPr sz="950" b="1">
                <a:solidFill>
                  <a:srgbClr val="F59E0B"/>
                </a:solidFill>
                <a:latin typeface="Calibri"/>
              </a:defRPr>
            </a:pPr>
            <a:r>
              <a:t>06 //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1592" y="292608"/>
            <a:ext cx="1051560" cy="274320"/>
          </a:xfrm>
          <a:prstGeom prst="roundRect">
            <a:avLst/>
          </a:prstGeom>
          <a:solidFill>
            <a:srgbClr val="101C34"/>
          </a:solidFill>
          <a:ln w="1270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900" b="1">
                <a:solidFill>
                  <a:srgbClr val="A5C3E1"/>
                </a:solidFill>
                <a:latin typeface="Calibri"/>
              </a:defRPr>
            </a:pPr>
            <a:r>
              <a:t>SLIDE 06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3504"/>
            <a:ext cx="1081735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Calibri"/>
              </a:defRPr>
            </a:pPr>
            <a:r>
              <a:t>Executive Summary &amp; Future Directions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69848"/>
            <a:ext cx="10817352" cy="3108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50">
                <a:solidFill>
                  <a:srgbClr val="A5C3E1"/>
                </a:solidFill>
                <a:latin typeface="Calibri"/>
              </a:defRPr>
            </a:pPr>
            <a:r>
              <a:t>Executive Takeaways &amp; Strategic Outlook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26464"/>
            <a:ext cx="3108960" cy="320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94760" y="1435608"/>
            <a:ext cx="7708392" cy="13716"/>
          </a:xfrm>
          <a:prstGeom prst="rect">
            <a:avLst/>
          </a:prstGeom>
          <a:solidFill>
            <a:srgbClr val="30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591056"/>
            <a:ext cx="6446520" cy="1499616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" y="1682496"/>
            <a:ext cx="64008" cy="1316736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6968" y="1719072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00F2FE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1664208"/>
            <a:ext cx="5623559" cy="1353312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8FAFC"/>
                </a:solidFill>
                <a:latin typeface="Calibri"/>
              </a:defRPr>
            </a:pPr>
            <a:r>
              <a:t>01. Summary</a:t>
            </a:r>
          </a:p>
          <a:p>
            <a:pPr>
              <a:defRPr sz="1150">
                <a:solidFill>
                  <a:srgbClr val="D6E0EE"/>
                </a:solidFill>
                <a:latin typeface="Calibri"/>
              </a:defRPr>
            </a:pPr>
            <a:r>
              <a:t>Langchain agents represent a paradigm shift in AI interaction.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18687"/>
            <a:ext cx="6446520" cy="1499616"/>
          </a:xfrm>
          <a:prstGeom prst="roundRect">
            <a:avLst/>
          </a:prstGeom>
          <a:solidFill>
            <a:srgbClr val="1A2742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" y="3310127"/>
            <a:ext cx="64008" cy="131673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6968" y="3346703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A855F7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9032" y="3291839"/>
            <a:ext cx="5623559" cy="1353312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8FAFC"/>
                </a:solidFill>
                <a:latin typeface="Calibri"/>
              </a:defRPr>
            </a:pPr>
            <a:r>
              <a:t>02. Future Directions</a:t>
            </a:r>
          </a:p>
          <a:p>
            <a:pPr>
              <a:defRPr sz="1150">
                <a:solidFill>
                  <a:srgbClr val="D6E0EE"/>
                </a:solidFill>
                <a:latin typeface="Calibri"/>
              </a:defRPr>
            </a:pPr>
            <a:r>
              <a:t>Moving towards multi-agent systems and autonomous orchestration.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846320"/>
            <a:ext cx="6446520" cy="1499616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" y="4937759"/>
            <a:ext cx="64008" cy="13167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6968" y="4974336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919472"/>
            <a:ext cx="5623559" cy="1353312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8FAFC"/>
                </a:solidFill>
                <a:latin typeface="Calibri"/>
              </a:defRPr>
            </a:pPr>
            <a:r>
              <a:t>03. Strategic Roadmap</a:t>
            </a:r>
          </a:p>
          <a:p>
            <a:pPr>
              <a:defRPr sz="1150">
                <a:solidFill>
                  <a:srgbClr val="D6E0EE"/>
                </a:solidFill>
                <a:latin typeface="Calibri"/>
              </a:defRPr>
            </a:pPr>
            <a:r>
              <a:t>Prioritize modular development and robust HITL integration.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1591056"/>
            <a:ext cx="4142232" cy="4754880"/>
          </a:xfrm>
          <a:prstGeom prst="roundRect">
            <a:avLst/>
          </a:prstGeom>
          <a:solidFill>
            <a:srgbClr val="121C34"/>
          </a:solidFill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60920" y="1591056"/>
            <a:ext cx="4142232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1874519"/>
            <a:ext cx="36118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EXECUTIVE SUMMARY &amp; NEXT STEPS</a:t>
            </a:r>
          </a:p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Investing in Langchain agents today positions your organization at the forefront of AI-driven automation.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