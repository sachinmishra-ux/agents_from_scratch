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INTRODUCTION</a:t>
            </a:r>
          </a:p>
          <a:p>
            <a:pPr algn="ctr">
              <a:defRPr sz="3600" b="1">
                <a:solidFill>
                  <a:srgbClr val="F8FAFC"/>
                </a:solidFill>
                <a:latin typeface="Arial"/>
              </a:defRPr>
            </a:pPr>
            <a:r>
              <a:t>THE HUMAN IMMUNE SYSTEM: HOW OUR BODY FIGHTS DISEASES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  <a:latin typeface="Arial"/>
              </a:defRPr>
            </a:pPr>
            <a:r>
              <a:t>A comprehensive exploration of your body's defense mechanisms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What is the Immune System?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 complex network of organs, cells, proteins, and chemicals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Primary function: Protect the body from pathogens and invaders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Distinguishes between self and non-self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Supports healing and tissue repair</a:t>
            </a:r>
          </a:p>
        </p:txBody>
      </p:sp>
      <p:pic>
        <p:nvPicPr>
          <p:cNvPr id="5" name="Picture 4" descr="slide2_immu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Two Lines of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Innate Immunity: Rapid, non-specific, first responder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Adaptive Immunity: Specific, slower, long-lasting memory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Both systems work together in coordinated defense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Together they provide comprehensive protection</a:t>
            </a:r>
          </a:p>
        </p:txBody>
      </p:sp>
      <p:pic>
        <p:nvPicPr>
          <p:cNvPr id="5" name="Picture 4" descr="slide3_innate_vs_adap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DEFENSE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Innate Immunity: First Line of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Physical barriers: Skin, mucous membranes, stomach acid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Immediate response to any pathogen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Non-specific recognition of foreign invaders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Includes inflammation and fever responses</a:t>
            </a:r>
          </a:p>
        </p:txBody>
      </p:sp>
      <p:pic>
        <p:nvPicPr>
          <p:cNvPr id="5" name="Picture 4" descr="slide4_innate_i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DEFENSE MECHANISMS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Adaptive Immunity: Specific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Highly specific recognition of particular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Develops memory of encountered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Faster response on re-exposure (vaccination principle)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Primary and secondary immune responses</a:t>
            </a:r>
          </a:p>
        </p:txBody>
      </p:sp>
      <p:pic>
        <p:nvPicPr>
          <p:cNvPr id="5" name="Picture 4" descr="slide5_adaptive_immu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CELLULAR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Key Immune Cells: White Blood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Neutrophils: Most abundant, first responders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Lymphocytes: B cells and T cells for specific immunity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Monocytes/Macrophages: Engulf and destroy pathogens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Eosinophils &amp; Basophils: Combat parasites and allergies</a:t>
            </a:r>
          </a:p>
        </p:txBody>
      </p:sp>
      <p:pic>
        <p:nvPicPr>
          <p:cNvPr id="5" name="Picture 4" descr="slide6_immun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CELLULAR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Lymphocytes: B Cells and T Cells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 Cells: Produce antibodies for humoral immunity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T Helper Cells: Coordinate immune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Cytotoxic T Cells: Kill infected or abnormal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Regulatory T Cells: Prevent excessive immune response</a:t>
            </a:r>
          </a:p>
        </p:txBody>
      </p:sp>
      <p:pic>
        <p:nvPicPr>
          <p:cNvPr id="5" name="Picture 4" descr="slide7_lymphocy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MOLECULAR IMMUNITY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Antibodies and Antigens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Antibodies: Y-shaped proteins produced by B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Antigens: Foreign molecules that trigger immune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Specific binding: Each antibody recognizes specific antigen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Functions: Neutralization, opsonization, complement activation</a:t>
            </a:r>
          </a:p>
        </p:txBody>
      </p:sp>
      <p:pic>
        <p:nvPicPr>
          <p:cNvPr id="5" name="Picture 4" descr="slide8_antibo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SYSTEM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Immune System Organs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Primary organs: Bone marrow and thymus (cell production/maturation)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Secondary organs: Lymph nodes, spleen (immune response sites)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Lymphatic vessels: Transport immune cells throughout body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Gut-associated lymphoid tissue: MALT, tonsils, appendix</a:t>
            </a:r>
          </a:p>
        </p:txBody>
      </p:sp>
      <p:pic>
        <p:nvPicPr>
          <p:cNvPr id="5" name="Picture 4" descr="slide9_immune_org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ADVANCED DEFENSE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Complement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Group of blood proteins enhancing immune response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Cascade activation: Sequential protein activation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Functions: Mark pathogens, create inflammation, lyse cells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Bridges innate and adaptive immunity</a:t>
            </a:r>
          </a:p>
        </p:txBody>
      </p:sp>
      <p:pic>
        <p:nvPicPr>
          <p:cNvPr id="5" name="Picture 4" descr="slide10_compl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F2FE"/>
                </a:solidFill>
                <a:latin typeface="Arial"/>
              </a:defRPr>
            </a:pPr>
            <a:r>
              <a:t>IMMUNE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40080"/>
            <a:ext cx="108200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When Immunity Fails: Immune Disorders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Autoimmune Diseases: Immune system attacks self (lupus, rheumatoid arthritis)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Immunodeficiency: Weak immune response (HIV/AIDS, primary immunodeficiency)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Allergies: Excessive immune response to harmless substances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Modern treatments: Monoclonal antibodies, CAR-T cell therapy</a:t>
            </a:r>
          </a:p>
        </p:txBody>
      </p:sp>
      <p:pic>
        <p:nvPicPr>
          <p:cNvPr id="5" name="Picture 4" descr="slide11_immune_dis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645920"/>
            <a:ext cx="5333695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the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00" b="1">
                <a:solidFill>
                  <a:srgbClr val="00F2FE"/>
                </a:solidFill>
                <a:latin typeface="Arial"/>
              </a:defRPr>
            </a:pPr>
            <a:r>
              <a:t>SUMMARY &amp; DISCUSSION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Your immune system is a sophisticated, multi-layered defense network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Innate and adaptive immunity work together seamlessly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Healthy lifestyle supports optimal immune function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Arial"/>
              </a:defRPr>
            </a:pPr>
            <a:r>
              <a:t>• Ongoing research continues to improve immune-based therapies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0" y="1828800"/>
            <a:ext cx="4647895" cy="3657600"/>
          </a:xfrm>
          <a:prstGeom prst="roundRect">
            <a:avLst/>
          </a:prstGeom>
          <a:solidFill>
            <a:srgbClr val="161E31"/>
          </a:solidFill>
          <a:ln w="19050">
            <a:solidFill>
              <a:srgbClr val="28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8A2BE2"/>
                </a:solidFill>
                <a:latin typeface="Arial"/>
              </a:defRPr>
            </a:pPr>
            <a:r>
              <a:t>Ready for Labs</a:t>
            </a:r>
          </a:p>
          <a:p>
            <a:pPr>
              <a:defRPr sz="1100">
                <a:solidFill>
                  <a:srgbClr val="F8FAFC"/>
                </a:solidFill>
                <a:latin typeface="Arial"/>
              </a:defRPr>
            </a:pPr>
            <a:r>
              <a:t>Review loaded notebooks in your workspace. Test code inference endpoints, verify cross-region configurations, and execute agent runs.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