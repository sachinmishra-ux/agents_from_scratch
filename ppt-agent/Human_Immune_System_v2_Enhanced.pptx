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en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1560" y="1143000"/>
            <a:ext cx="10088575" cy="4526280"/>
          </a:xfrm>
          <a:prstGeom prst="roundRect">
            <a:avLst/>
          </a:prstGeom>
          <a:solidFill>
            <a:srgbClr val="0E1628"/>
          </a:solidFill>
          <a:ln w="228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1143000"/>
            <a:ext cx="414497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9080" y="1572768"/>
            <a:ext cx="4053535" cy="365760"/>
          </a:xfrm>
          <a:prstGeom prst="roundRect">
            <a:avLst/>
          </a:prstGeom>
          <a:solidFill>
            <a:srgbClr val="16244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50" b="1">
                <a:solidFill>
                  <a:srgbClr val="00F2FE"/>
                </a:solidFill>
                <a:latin typeface="Calibri"/>
              </a:defRPr>
            </a:pPr>
            <a:r>
              <a:t>01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48840"/>
            <a:ext cx="917417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alibri"/>
              </a:defRPr>
            </a:pPr>
            <a:r>
              <a:t>The Human Immune System: Innate vs. Adaptive Defense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822191"/>
            <a:ext cx="844265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5C3E1"/>
                </a:solidFill>
                <a:latin typeface="Calibri"/>
              </a:defRPr>
            </a:pPr>
            <a:r>
              <a:t>Understanding Our Body's Complex Defense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4983480"/>
            <a:ext cx="8442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AUTONOMOUS AI PRESENTATION ARCHITECTURE  •  8 SLIDES  •  GEMINI 2.5 FLASH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02 // INNATE IMMUNITY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Innate Immunity: Our First Line of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Physical &amp; Chemical Barriers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Epithelial tight junctions, mucosal membranes, and antimicrobial defensins block 99% of pathogen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Cellular Defenders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Phagocytes like macrophages and neutrophils rapidly engulf and destroy foreign invaders through non-specific recognition.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Inflammation Response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Localized tissue damage triggers a cascade of events, increasing blood flow and recruiting immune cells to the infection 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Fever &amp; Antimicrobial Proteins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Systemic responses include elevated body temperature and circulating proteins that inhibit microbial growth.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6" name="Picture 25" descr="slide_2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Innate Immunity: Our First Line of Defense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The innate immune system provides immediate, non-specific protection, acting as the body's rapid response unit against common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03 // ADAPTIVE IMMUNITY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Adaptive Immunity: Targeted &amp; Memory-Driven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3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Adaptive Immunity: Targeted &amp; Memory-Driven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T-Cell Activation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Helper T-cells coordinate responses, while Cytotoxic T-cells directly eliminate infected or cancerous cells with high specificity.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B-Cell Antibody Production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B-cells differentiate into plasma cells, secreting highly specific antibodies that neutralize pathogens and mark them for destruction.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Antigen Presentation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Specialized cells present pathogen fragments to lymphocytes, initiating a precise and tailored immune response.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2472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Immunological Memory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Upon re-exposure, memory B and T cells mount a faster, stronger, and more effective defense, preventing recurrent illness.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Adaptive immunity offers highly specific, long-lasting protection, learning and adapting to new pathogens through memory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04 //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Innate vs. Adaptive: Key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281928" cy="4096512"/>
          </a:xfrm>
          <a:prstGeom prst="roundRect">
            <a:avLst/>
          </a:prstGeom>
          <a:solidFill>
            <a:srgbClr val="0E1626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" y="1645920"/>
          <a:ext cx="617220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797356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F2FE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Innate Immunity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Adaptive Immunity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Response Time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Immediate (minutes to hours)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Delayed (days to weeks)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Non-specific (recognizes common patterns)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Highly specific (targets unique antigens)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  <a:tr h="79735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No immunological 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Develops long-term memory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7973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Physical barriers, phagocytes, NK cells, inflammation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T-cells, B-cells, antibodies, antigen-presenting cells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591056"/>
            <a:ext cx="437083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8624" y="1645920"/>
            <a:ext cx="407822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◆  COMPARISON INFOGRAPHIC</a:t>
            </a:r>
          </a:p>
        </p:txBody>
      </p:sp>
      <p:pic>
        <p:nvPicPr>
          <p:cNvPr id="12" name="Picture 11" descr="slide_4_tab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920240"/>
            <a:ext cx="4114800" cy="3310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8624" y="5266944"/>
            <a:ext cx="407822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Visual Comparison Matrix generated via Gemini 2.5 Flash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While innate immunity provides rapid, broad protection, adaptive immunity offers precise, memory-driven defense crucial for long-term pathogen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05 // VACCINE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mRNA Vaccines: Precision Delivery &amp; Immune 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5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mRNA Vaccines: Precision Delivery &amp; Immune Activation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mRNA Encapsulation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Messenger RNA (mRNA) encoding viral antigens is encased in lipid nanoparticles (LNPs) for stability and efficient cellular uptake.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Cellular Uptake &amp; Translation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LNPs deliver mRNA into host cells, which then translate the mRNA into harmless viral proteins.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Antigen Presentation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Host cells present these viral proteins on their surface, triggering a robust adaptive immune response without viral replication.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62472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17336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Rapid Development &amp; Flexibility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mRNA technology allows for faster vaccine development and easier adaptation to new viral variants.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mRNA vaccines leverage cellular machinery to produce antigens, initiating a potent immune response with unprecedented speed and adaptability.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06 // IMMUNOTHERAPY FRONTIERS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CAR-T Cell Therapy: Engineering Immunity Against Cancer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77266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T-Cell Collection &amp; Reprogramming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Patient's own T-cells are extracted and genetically modified to express Chimeric Antigen Receptors (CARs).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38044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729484"/>
            <a:ext cx="64008" cy="7726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766060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711196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CAR Gene Insertion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The CARs are designed to specifically recognize and bind to antigens present on the surface of cancer cells.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85032"/>
            <a:ext cx="5440680" cy="955548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3776472"/>
            <a:ext cx="64008" cy="7726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8130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758184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Expansion &amp; Infusion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Engineered CAR-T cells are multiplied in the lab and then infused back into the patient.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32020"/>
            <a:ext cx="5440680" cy="955548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4823460"/>
            <a:ext cx="64008" cy="7726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48600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805172"/>
            <a:ext cx="4617720" cy="809244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Targeted Cancer Killing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Once re-infused, CAR-T cells seek out and destroy cancer cells expressing the target antigen, offering a highly personalized treatment.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6" name="Picture 25" descr="slide_6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CAR-T Cell Therapy: Engineering Immunity Against Cancer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CAR-T cell therapy represents a revolutionary approach, re-engineering a patient's immune cells to precisely target and eliminate cancer.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07 // IMMUNOLOGICAL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Immunological Memory &amp; Vaccine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53796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9372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Memory Cell Function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Long-lived B and T memory cells persist after initial infection, enabling rapid and robust secondary immune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02636"/>
            <a:ext cx="653796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2894076"/>
            <a:ext cx="64008" cy="9372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293065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87578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Vaccine Principles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Vaccines introduce attenuated or inactivated pathogens/antigens to safely stimulate adaptive immunity and generate memory without causing disease.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14216"/>
            <a:ext cx="653796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105656"/>
            <a:ext cx="64008" cy="9372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14223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08736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Herd Immunity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Widespread vaccination protects vulnerable populations by reducing pathogen transmission, making outbreaks less likely.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25796"/>
            <a:ext cx="653796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" y="5317236"/>
            <a:ext cx="64008" cy="9372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535381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5298948"/>
            <a:ext cx="5715000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Booster Doses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Periodic boosters reinforce immunological memory, ensuring sustained protection against evolving pathogens.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591056"/>
            <a:ext cx="4050791" cy="4754880"/>
          </a:xfrm>
          <a:prstGeom prst="roundRect">
            <a:avLst/>
          </a:prstGeom>
          <a:solidFill>
            <a:srgbClr val="161C36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591056"/>
            <a:ext cx="40507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1874519"/>
            <a:ext cx="2377440" cy="347472"/>
          </a:xfrm>
          <a:prstGeom prst="roundRect">
            <a:avLst/>
          </a:prstGeom>
          <a:solidFill>
            <a:srgbClr val="0E142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STRATEGIC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395728"/>
            <a:ext cx="3520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Harnessing immunological memory through vaccination is a cornerstone of public health, providing durable protection against infectious diseases.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08 //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Executive Summary &amp; Clinical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69848"/>
            <a:ext cx="10817352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A5C3E1"/>
                </a:solidFill>
                <a:latin typeface="Calibri"/>
              </a:defRPr>
            </a:pPr>
            <a:r>
              <a:t>Executive Takeaways &amp; Strategic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91056"/>
            <a:ext cx="644652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82496"/>
            <a:ext cx="64008" cy="93726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66420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Dual Defense System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The immune system operates as a sophisticated network of innate and adaptive components, each with distinct roles and synergistic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2636"/>
            <a:ext cx="644652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" y="2894076"/>
            <a:ext cx="64008" cy="9372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293065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287578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Precision &amp; Speed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Innate immunity offers immediate, broad protection, while adaptive immunity provides targeted, memory-driven defense.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14216"/>
            <a:ext cx="6446520" cy="112014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" y="4105656"/>
            <a:ext cx="64008" cy="9372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414223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08736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Therapeutic Innovations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Understanding these mechanisms drives advancements in immunotherapies, vaccine development, and autoimmune disease treatments.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25796"/>
            <a:ext cx="6446520" cy="112014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5317236"/>
            <a:ext cx="64008" cy="9372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535381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5298948"/>
            <a:ext cx="5623559" cy="97383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Future Frontiers</a:t>
            </a:r>
          </a:p>
          <a:p>
            <a:pPr>
              <a:defRPr sz="1080">
                <a:solidFill>
                  <a:srgbClr val="D6E0EE"/>
                </a:solidFill>
                <a:latin typeface="Calibri"/>
              </a:defRPr>
            </a:pPr>
            <a:r>
              <a:t>Ongoing research explores personalized immunology, leveraging individual immune profiles for tailored health interventions.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591056"/>
            <a:ext cx="4142232" cy="4754880"/>
          </a:xfrm>
          <a:prstGeom prst="roundRect">
            <a:avLst/>
          </a:prstGeom>
          <a:solidFill>
            <a:srgbClr val="121C3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1591056"/>
            <a:ext cx="4142232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874519"/>
            <a:ext cx="3611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EXECUTIVE SUMMARY &amp; NEXT STEPS</a:t>
            </a:r>
          </a:p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A comprehensive understanding of innate and adaptive immunity is vital for developing next-generation diagnostics, therapeutics, and preventative strategies in global health.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